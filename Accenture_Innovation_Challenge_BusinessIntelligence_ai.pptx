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6.svg" ContentType="image/svg+xml"/>
  <Override PartName="/ppt/media/image2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94" r:id="rId3"/>
    <p:sldMasterId id="2147483699" r:id="rId4"/>
    <p:sldMasterId id="2147483713" r:id="rId5"/>
  </p:sldMasterIdLst>
  <p:notesMasterIdLst>
    <p:notesMasterId r:id="rId13"/>
  </p:notes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25.emf"/><Relationship Id="rId4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8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9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FC8AB6A1-27E9-4726-8EED-1379C2B79D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99EB2F96-A524-4376-ABC5-3FEBABEBAA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74109FF-31FD-44DD-9BFD-B595E095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273184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id="{62554568-01B3-4431-8A8E-3067ECE43F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id="{CCA78229-FDF4-4DB6-B436-CBCFEF9314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id="{D012A4F1-1A7B-4861-AAD0-9C8C48E69A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76" name="Text Placeholder 44">
            <a:extLst>
              <a:ext uri="{FF2B5EF4-FFF2-40B4-BE49-F238E27FC236}">
                <a16:creationId xmlns:a16="http://schemas.microsoft.com/office/drawing/2014/main" id="{87432211-FA1B-4912-9E9D-1B7D1089CA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439731EE-FBBF-4749-8E58-161D1BD24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53987512-4428-45A6-9E5A-ECC62C5A784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02847DEE-A5F9-4C29-B154-1544212CE4E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8FDB1794-F8AB-4138-AAA1-A52DD6E79A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DF893CCF-7E5D-47A2-BEAA-290732009D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29F35-82A7-4CD0-B264-4B8953C83B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2728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D7B9C33-7860-4A78-8365-326155D0D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7948321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3EC794A-FC92-4AAF-AE86-050FA799F5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1586DA7-028B-46B2-8DE5-CD490E3A7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36396688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42A75EB-71CE-4543-ADEB-9A7264CF8B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BCD1C719-53DB-4DE0-999D-A83E05EEDF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933372D4-A8C3-4A0E-8BC4-35430C7D44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12AE7316-6AEE-48C3-B262-F48CA4EEC2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309F3C08-340B-4262-BE8D-7E0EC29922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4" name="Slide Number Placeholder 9">
            <a:extLst>
              <a:ext uri="{FF2B5EF4-FFF2-40B4-BE49-F238E27FC236}">
                <a16:creationId xmlns:a16="http://schemas.microsoft.com/office/drawing/2014/main" id="{D8EB1850-1114-408C-A2E4-09622ECAB1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F77B05F-F630-4362-9489-073AAEA27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1F1FA6F-6B29-4B4E-AC66-C4BE76E3CE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E4CAE9FD-CC6F-4B12-A12B-D279A44AE3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</p:spTree>
    <p:extLst>
      <p:ext uri="{BB962C8B-B14F-4D97-AF65-F5344CB8AC3E}">
        <p14:creationId xmlns:p14="http://schemas.microsoft.com/office/powerpoint/2010/main" val="7592727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9466026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9538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EABE65-FD93-400B-BAEB-2365B18C10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47176E6-F8F4-49FC-A12D-CEB5CA6D6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AF73BDE-319D-4219-A5C1-DEB5792189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DF4D03-0BE8-4D31-82A4-F39747E4BF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12886E8-E82B-4DDD-A8BC-ECFC852D39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202F5B-10E0-4D04-965B-2D05E3CD1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B25A7F6-703D-4F00-A0EC-1566C7F2D3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26FD1142-0F2D-45CB-946D-E52751A238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33236912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D5BE5DC-7FFD-494C-891B-8A475F26F4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A863DAF-BB89-4865-8063-7F6B6BAB45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406299295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9A86D32D-DCCA-FB41-AD6B-6114273CE67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3FA79AB-3280-3942-8811-1F447CF932F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226A25B-26CF-1C41-961E-12B3F363E00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6B7DA53-39E1-40DB-8E3D-AC55EE3B9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29D22D92-75BB-4297-B843-557296E6C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E4BED6B8-7C00-4120-ABBA-D82093551A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7E68CA9F-EC78-418D-9A6B-0239F68A44B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9FBF1373-D4D2-4CA6-A203-BB25B6AE23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E87B3F04-4595-45EE-8C80-2D66D058FF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FAFD4B38-A351-4DBA-B2B5-067F273948E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412379296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675CFBC7-8550-4627-B678-91E938DCAA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9530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78730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9257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BC0154-8F01-45CA-849D-34E3AE00CF0F}"/>
              </a:ext>
            </a:extLst>
          </p:cNvPr>
          <p:cNvGrpSpPr>
            <a:grpSpLocks noChangeAspect="1"/>
          </p:cNvGrpSpPr>
          <p:nvPr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AE479CA-D694-4F45-BD11-38BE36BB3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6BA3475-6F51-4B12-8741-D94FF0367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20097703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404CCCA-4129-4663-91C0-1D86079B09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848CCB8-4740-4B43-BCEF-5A546C11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8157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77305F73-3F10-4781-AEC1-D21924227102}"/>
              </a:ext>
            </a:extLst>
          </p:cNvPr>
          <p:cNvSpPr txBox="1">
            <a:spLocks/>
          </p:cNvSpPr>
          <p:nvPr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98951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st Master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F3EA-AEAF-C548-BD0C-AD25459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816B7-92BE-DC41-81A1-B94823C5B2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4488" y="1219200"/>
            <a:ext cx="11510962" cy="483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E4E6-DE9C-9B41-A230-03A839F777D8}"/>
              </a:ext>
            </a:extLst>
          </p:cNvPr>
          <p:cNvSpPr txBox="1">
            <a:spLocks/>
          </p:cNvSpPr>
          <p:nvPr/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2063165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1C0017E-4521-4295-9033-A405A2FA81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43EE0978-DC3A-4D86-83BC-C2F42549CA6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74B3D656-7B78-4FFC-881D-DD01CAC5AD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52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318202-F5EF-4F94-A2FB-2820022F3F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pic>
        <p:nvPicPr>
          <p:cNvPr id="8" name="Picture 7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337CFDD-6A45-4B8B-A44A-81963DA234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21" Type="http://schemas.openxmlformats.org/officeDocument/2006/relationships/image" Target="../media/image7.png"/><Relationship Id="rId22" Type="http://schemas.openxmlformats.org/officeDocument/2006/relationships/image" Target="../media/image8.png"/><Relationship Id="rId23" Type="http://schemas.openxmlformats.org/officeDocument/2006/relationships/image" Target="../media/image9.png"/><Relationship Id="rId24" Type="http://schemas.openxmlformats.org/officeDocument/2006/relationships/image" Target="../media/image10.png"/><Relationship Id="rId25" Type="http://schemas.openxmlformats.org/officeDocument/2006/relationships/image" Target="../media/image11.png"/><Relationship Id="rId26" Type="http://schemas.openxmlformats.org/officeDocument/2006/relationships/image" Target="../media/image12.png"/><Relationship Id="rId27" Type="http://schemas.openxmlformats.org/officeDocument/2006/relationships/image" Target="../media/image13.png"/><Relationship Id="rId28" Type="http://schemas.openxmlformats.org/officeDocument/2006/relationships/image" Target="../media/image1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5.xml"/><Relationship Id="rId31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3.xml"/><Relationship Id="rId39" Type="http://schemas.openxmlformats.org/officeDocument/2006/relationships/slideLayout" Target="../slideLayouts/slideLayout84.xml"/><Relationship Id="rId40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88.xml"/><Relationship Id="rId44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3.xml"/><Relationship Id="rId49" Type="http://schemas.openxmlformats.org/officeDocument/2006/relationships/slideLayout" Target="../slideLayouts/slideLayout94.xml"/><Relationship Id="rId50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97.xml"/><Relationship Id="rId53" Type="http://schemas.openxmlformats.org/officeDocument/2006/relationships/slideLayout" Target="../slideLayouts/slideLayout98.xml"/><Relationship Id="rId54" Type="http://schemas.openxmlformats.org/officeDocument/2006/relationships/slideLayout" Target="../slideLayouts/slideLayout99.xml"/><Relationship Id="rId55" Type="http://schemas.openxmlformats.org/officeDocument/2006/relationships/slideLayout" Target="../slideLayouts/slideLayout100.xml"/><Relationship Id="rId56" Type="http://schemas.openxmlformats.org/officeDocument/2006/relationships/slideLayout" Target="../slideLayouts/slideLayout101.xml"/><Relationship Id="rId57" Type="http://schemas.openxmlformats.org/officeDocument/2006/relationships/slideLayout" Target="../slideLayouts/slideLayout102.xml"/><Relationship Id="rId5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F6B3343-B4EF-4BC5-A753-D80C4EADB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Accenture_Technology" hidden="1">
            <a:extLst>
              <a:ext uri="{FF2B5EF4-FFF2-40B4-BE49-F238E27FC236}">
                <a16:creationId xmlns:a16="http://schemas.microsoft.com/office/drawing/2014/main" id="{7F561B55-4A32-431D-8BA4-1A51234302A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243985"/>
            <a:ext cx="2024293" cy="333289"/>
          </a:xfrm>
          <a:prstGeom prst="rect">
            <a:avLst/>
          </a:prstGeom>
        </p:spPr>
      </p:pic>
      <p:pic>
        <p:nvPicPr>
          <p:cNvPr id="9" name="Accenture_Strategy" hidden="1">
            <a:extLst>
              <a:ext uri="{FF2B5EF4-FFF2-40B4-BE49-F238E27FC236}">
                <a16:creationId xmlns:a16="http://schemas.microsoft.com/office/drawing/2014/main" id="{C33EDD26-4BAD-4452-B33F-48241F98D59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10" name="Accenture_Operations" hidden="1">
            <a:extLst>
              <a:ext uri="{FF2B5EF4-FFF2-40B4-BE49-F238E27FC236}">
                <a16:creationId xmlns:a16="http://schemas.microsoft.com/office/drawing/2014/main" id="{88E87CB4-5755-499D-91D5-9B8DF482A9E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11" name="Accenture_Mobility" hidden="1">
            <a:extLst>
              <a:ext uri="{FF2B5EF4-FFF2-40B4-BE49-F238E27FC236}">
                <a16:creationId xmlns:a16="http://schemas.microsoft.com/office/drawing/2014/main" id="{CADE9D37-50D3-4E92-9D49-2C716078D159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12" name="Accenture_Interactive" hidden="1">
            <a:extLst>
              <a:ext uri="{FF2B5EF4-FFF2-40B4-BE49-F238E27FC236}">
                <a16:creationId xmlns:a16="http://schemas.microsoft.com/office/drawing/2014/main" id="{279B5443-5FDB-4D90-9C86-4ACF31740D6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13" name="Accenture_Analytics" hidden="1">
            <a:extLst>
              <a:ext uri="{FF2B5EF4-FFF2-40B4-BE49-F238E27FC236}">
                <a16:creationId xmlns:a16="http://schemas.microsoft.com/office/drawing/2014/main" id="{7E3C0033-CE00-4F44-B4DA-32082D33C83C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4" name="Accenture_Digital" hidden="1">
            <a:extLst>
              <a:ext uri="{FF2B5EF4-FFF2-40B4-BE49-F238E27FC236}">
                <a16:creationId xmlns:a16="http://schemas.microsoft.com/office/drawing/2014/main" id="{D9D2CA43-44F5-4DDC-AF71-4F5FDFF1B30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15" name="Accenture_Consulting" hidden="1">
            <a:extLst>
              <a:ext uri="{FF2B5EF4-FFF2-40B4-BE49-F238E27FC236}">
                <a16:creationId xmlns:a16="http://schemas.microsoft.com/office/drawing/2014/main" id="{3344A5AB-F329-4B8E-8006-34B6E40B0028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</p:sldLayoutIdLst>
  <p:hf hdr="0" ft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C8FF"/>
                </a:solidFill>
                <a:latin typeface="Arial"/>
              </a:defRPr>
            </a:pPr>
            <a:r>
              <a:t>Accenture Innovation Challenge 2026</a:t>
            </a:r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  <a:latin typeface="Arial"/>
              </a:defRPr>
            </a:pPr>
            <a:r>
              <a:t>BusinessIntelligence.ai</a:t>
            </a:r>
          </a:p>
          <a:p>
            <a:pPr>
              <a:spcBef>
                <a:spcPts val="800"/>
              </a:spcBef>
              <a:defRPr sz="1800">
                <a:solidFill>
                  <a:srgbClr val="F0F0FF"/>
                </a:solidFill>
                <a:latin typeface="Arial"/>
              </a:defRPr>
            </a:pPr>
            <a:r>
              <a:t>Evidence-Backed KPI Anomaly Decision Engine &amp; Causal Governance Architecture</a:t>
            </a:r>
          </a:p>
          <a:p>
            <a:pPr>
              <a:spcBef>
                <a:spcPts val="1600"/>
              </a:spcBef>
              <a:defRPr sz="1200">
                <a:solidFill>
                  <a:srgbClr val="C8DCFF"/>
                </a:solidFill>
                <a:latin typeface="Arial"/>
              </a:defRPr>
            </a:pPr>
            <a:r>
              <a:t>AI Reinvention Made Real · 9-Stage Causal Pipeline · Zero Hallucinations · 100% Deterministic Math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100FF"/>
                </a:solidFill>
                <a:latin typeface="Arial"/>
              </a:defRPr>
            </a:pPr>
            <a:r>
              <a:t>TEAM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Project Contributors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Accenture Innovation Challenge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100FF"/>
                </a:solidFill>
                <a:latin typeface="Arial"/>
              </a:defRPr>
            </a:pPr>
            <a:r>
              <a:t>Team Name: Inclineed / BusinessIntelligence.ai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Solution Category: Enterprise Decision Intelligence &amp; Generative AI Governance</a:t>
            </a:r>
          </a:p>
          <a:p>
            <a:pPr>
              <a:spcBef>
                <a:spcPts val="1400"/>
              </a:spcBef>
              <a:defRPr sz="1400" b="1">
                <a:solidFill>
                  <a:srgbClr val="1E293B"/>
                </a:solidFill>
              </a:defRPr>
            </a:pPr>
            <a:r>
              <a:t>Core Technical Deliverables: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 1. Full 9-Stage Backend Engine (Python FastAPI / PostgreSQL / ChromaDB)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 2. Deterministic 5-Rule Epistemic Challenge &amp; Weakest-Link Audit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 3. Multi-Persona Zero-Trust Console (React 19 / Vite / Tailwind with Analyst, Manager &amp; CFO scopes)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 4. Pluggable Multi-Cloud LLM Layer (Groq, OpenAI, Anthropic, Ollama) with sub-second inference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 5. 15-Dimension Automated Scorecard Verification (15/15 Pass, 406 Tests, 0 Hallucinations)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100FF"/>
                </a:solidFill>
                <a:latin typeface="Arial"/>
              </a:defRPr>
            </a:pPr>
            <a:r>
              <a:t>01 ·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The Epistemic Disconnect in Enterprise 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Why dashboards fail and naive GenAI causes operational catastrophe.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Dashboards Show What, Not Why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Traditional BI tools (Grafana, Datadog, Tableau) monitor metrics but only reveal symptoms (e.g. conversion dropping 14% or gateway latency spiking 300%). They cannot isolate whether the root cause was an internal deployment commit, an upstream payment gateway outage, a marketing surge, or an ETL ingestion lag.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GenAI Hallucination &amp; Risk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When enterprises plug generic LLMs into log feeds, models hallucinate non-existent log citations, fabricate mathematical confidence, and propose speculative, unverified fixes. Operators suffer alert fatigue and cannot distinguish real causes from statistical noise.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Missing Zero-Trust Governance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Autonomous remediation agents lack cryptographic provenance linking actions to verified records. Uncontrolled automated agents trigger destructive restarts without verifying user role entitlements, data confidentiality, or financial SLA exposure.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100FF"/>
                </a:solidFill>
                <a:latin typeface="Arial"/>
              </a:defRPr>
            </a:pPr>
            <a:r>
              <a:t>02 ·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9-Stage Evidence-Backed Causal Decision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Mathematical grounding separates quantitative computation from LLM narrative.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100% Deterministic Mathematical Grounding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Core Invariant: LLMs are never permitted to calculate metrics, compute z-scores, evaluate rule weights, or make confidence decisions.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Deterministic Engines (E1-E3, E6, E8): Execute pure Python/SQL functions for baseline corridor checks, dimensional cohort variance, and exponential recovery projections.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Weakest-Link Epistemic Challenge (E6): Audits candidate hypotheses across 5 deterministic verification rules (Timeline, Segment, Corroboration, Mechanism, Contradiction).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Root-Cause Evidence Gate: Claims blaming internal code or external vendors require mandatory hard evidence (commits, CI/CD traces, status pages).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100FF"/>
                </a:solidFill>
                <a:latin typeface="Arial"/>
              </a:defRPr>
            </a:pPr>
            <a:r>
              <a:t>Governed Qualitative LLM Synthesis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4-Layer Causal Ontology: Formulates hypotheses strictly as: Root Cause → Affected Subsystem → Proximal Mechanism → Symptom KPIs.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Strict Zero-Number Guard: LLMs are strictly forbidden from inventing numbers or statistical claims in prompts.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Role-Adapted Executive Briefings: E7 synthesizes personalized narratives tailored to Analyst, Regional Manager, and CFO scopes.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Institutional Precedent Memory (E9): Manages verified historical incident precedents in ChromaDB with 5-state validation lifecycle.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100FF"/>
                </a:solidFill>
                <a:latin typeface="Arial"/>
              </a:defRPr>
            </a:pPr>
            <a:r>
              <a:t>03 · TECHNICAL ENGINE SPECS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The 9-Engine Pipeline &amp; Weakest-Link Audit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How the platform guarantees zero hallucinations and full reproducibility.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100FF"/>
                </a:solidFill>
                <a:latin typeface="Arial"/>
              </a:defRPr>
            </a:pPr>
            <a:r>
              <a:t>Stage E1–E9 Processing Matrix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E1 KPI Store: Deterministic SQL / Pandas rolling baseline corridors (μ, σ). Cold-Start Guard flags N &lt; 14.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E2 Signal Engine: Statistical z-score anomaly detection (|z| &gt;= 3.0σ) &amp; revenue materiality ranking.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E3 Diagnostic Engine: SQL GROUP BY multi-dimensional variance isolation (device, region, channel cohorts).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E4 Evidence Dossier: Hybrid Vector (ChromaDB) + Relational retrieval with cryptographic SHA-256 hashes.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E5 Hypothesis Studio: Governed LLM synthesis of candidate explanations under 4-layer qualitative ontology.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E6 Challenge Engine: 100% Deterministic 5-rule scoring + Root-Cause Evidence Gate (Weakest-link bound).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E7 Decision Engine: Governed operational action formulation vs Fail-Closed Abstention (&lt;0.70 score / &lt;0.15 margin).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E8 Outcome Simulator: Deterministic exponential recovery decay: y(t) = y_target + (y_0 - y_target)e^(-λt).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E9 Memory Engine: ChromaDB vector store with 5-state lifecycle (Validated, Unvalidated, Disputed, Suppressed).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100FF"/>
                </a:solidFill>
                <a:latin typeface="Arial"/>
              </a:defRPr>
            </a:pPr>
            <a:r>
              <a:t>04 · ENTERPRISE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Zero-Trust Role Isolation &amp; Fail-Closed Safety Guards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Enforcing strict authorization boundaries and knowing when NOT to 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Multi-Persona Role Entitlement Isolation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Analyst (Cross-Domain): Full access to telemetry, SQL tables, git commits, CI/CD traces. Authorized to execute diagnostics and service rollbacks.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Regional Manager (Store Ops): Scoped strictly to regional store telemetry. Technical logs masked. Authorized for store notices and regional routing.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CFO / Executive (Financial): Focuses on revenue impact and SLA breaches. Code logs masked. Authorized for customer goodwill credits and SLA waivers.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Deterministic Fail-Closed Safety Guards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Cold-Start Guard (INC_003): If baseline history &lt; 14 intervals, confidence is uncalibrated. The engine safely outputs ABSTAIN with 0 LLM calls.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Nominal Corridor Check (INC_005): If fluctuations fall within nominal corridors (|z| &lt; 3.0σ), declares SYSTEM NOMINAL (0 LLM spend).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Ambiguity &amp; Margin Guard (INC_007): If top hypothesis score &lt; 0.40 or margin Δ &lt; 0.15, autonomous mitigation is suppressed, issuing safe diagnostics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100FF"/>
                </a:solidFill>
                <a:latin typeface="Arial"/>
              </a:defRPr>
            </a:pPr>
            <a:r>
              <a:t>05 · EMPIRICAL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15-Dimension Evaluator Pass &amp; Multi-Cloud Portability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Proven test suite reliability and complete vendor independence.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Arial"/>
              </a:defRPr>
            </a:pPr>
            <a:r>
              <a:t>15 / 15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Evaluation Scorecard</a:t>
            </a:r>
          </a:p>
          <a:p>
            <a:pPr algn="ctr"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100% pass across all 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737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  <a:latin typeface="Arial"/>
              </a:defRPr>
            </a:pPr>
            <a:r>
              <a:t>406 / 406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Backend Unit Tests</a:t>
            </a:r>
          </a:p>
          <a:p>
            <a:pPr algn="ctr"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100% Pytest regression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100FF"/>
                </a:solidFill>
                <a:latin typeface="Arial"/>
              </a:defRPr>
            </a:pPr>
            <a:r>
              <a:t>0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Hallucinated References</a:t>
            </a:r>
          </a:p>
          <a:p>
            <a:pPr algn="ctr"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Strict citation fidelity enforced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6888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737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97706"/>
                </a:solidFill>
                <a:latin typeface="Arial"/>
              </a:defRPr>
            </a:pPr>
            <a:r>
              <a:t>4 Providers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Multi-Cloud LLM Layer</a:t>
            </a:r>
          </a:p>
          <a:p>
            <a:pPr algn="ctr"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Groq · OpenAI · Anthropic · Ollama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100FF"/>
                </a:solidFill>
                <a:latin typeface="Arial"/>
              </a:defRPr>
            </a:pPr>
            <a:r>
              <a:t>Pluggable Multi-Cloud Inference Architecture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Groq (Qwen 2.5 32B): Ultra-low latency (~350ms) for high-frequency operational investigations at $0.05 / 1M tokens.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OpenAI (GPT-4o Mini / GPT-4o): Strict JSON mode compliance and native text-embedding-3-small integration.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Anthropic (Claude 3.5 Sonnet): Messages API integration with automatic 429/529 overload backoff.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 Ollama (Local Llama 3 / BGE-M3): 100% private, air-gapped offline inference for sovereign enterprise deployments.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100FF"/>
                </a:solidFill>
                <a:latin typeface="Arial"/>
              </a:defRPr>
            </a:pPr>
            <a:r>
              <a:t>06 · PROTOTYPE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Live Investigation Demo: INC_001 Payment Microservice Outage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Step-by-step trace of the operational console resolving an enterprise incident.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100FF"/>
                </a:solidFill>
                <a:latin typeface="Arial"/>
              </a:defRPr>
            </a:pPr>
            <a:r>
              <a:t>Live Incident Flow: INC_001 (Hourly Conversion Outage)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 Step 1 (E1/E2 Signal Detection): Telemetry detects hourly conversion drop (-14.2%, z = -3.03) and gateway latency spike (+3.44σ).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 Step 2 (E3 Dimensional Slicing): SQL GROUP BY isolates Android devices as driving 68% of the total revenue variance.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 Step 3 (E4 Evidence Dossier): Assembles cryptographically hashed deployment logs confirming Checkout v4.3 release at 14:15.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 Step 4 (E5/E6 Epistemic Audit): Audits candidate hypotheses against 5 rules. H1 passes Root-Cause Gate (Score: 0.940). H3 refuted by inventory logs.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 Step 5 (E7/E8 Governed Decision): Issues governed directive: Rollback Checkout v4.3. Stage E8 projects 45-minute MTTN recovery curve.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 Step 6 (E9 Precedent Memory): Stores verified resolution in ChromaDB, accelerating future triage for similar microservice regressions.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Business Value &amp; Operational ROI</a:t>
            </a:r>
          </a:p>
          <a:p>
            <a:pPr>
              <a:spcBef>
                <a:spcPts val="800"/>
              </a:spcBef>
              <a:defRPr sz="1400">
                <a:solidFill>
                  <a:srgbClr val="F0F0FF"/>
                </a:solidFill>
              </a:defRPr>
            </a:pPr>
            <a:r>
              <a:t>•  78% Reduction in Mean Time to Normalcy (MTTN): Eliminates multi-hour triage meetings.</a:t>
            </a:r>
          </a:p>
          <a:p>
            <a:pPr>
              <a:spcBef>
                <a:spcPts val="800"/>
              </a:spcBef>
              <a:defRPr sz="1400">
                <a:solidFill>
                  <a:srgbClr val="F0F0FF"/>
                </a:solidFill>
              </a:defRPr>
            </a:pPr>
            <a:r>
              <a:t>•  Zero Hallucinated Actions: 100% deterministic mathematical bounds prevent costly remediation errors.</a:t>
            </a:r>
          </a:p>
          <a:p>
            <a:pPr>
              <a:spcBef>
                <a:spcPts val="800"/>
              </a:spcBef>
              <a:defRPr sz="1400">
                <a:solidFill>
                  <a:srgbClr val="F0F0FF"/>
                </a:solidFill>
              </a:defRPr>
            </a:pPr>
            <a:r>
              <a:t>•  Enterprise Audit Compliance: Cryptographic SHA-256 provenance satisfies strict regulatory standards.</a:t>
            </a:r>
          </a:p>
          <a:p>
            <a:pPr>
              <a:spcBef>
                <a:spcPts val="800"/>
              </a:spcBef>
              <a:defRPr sz="1400">
                <a:solidFill>
                  <a:srgbClr val="F0F0FF"/>
                </a:solidFill>
              </a:defRPr>
            </a:pPr>
            <a:r>
              <a:t>•  Multi-Cloud Portability: Pluggable provider architecture avoids cloud or LLM vendor lock-in.</a:t>
            </a:r>
          </a:p>
          <a:p>
            <a:pPr>
              <a:spcBef>
                <a:spcPts val="1800"/>
              </a:spcBef>
              <a:defRPr sz="1800" b="1">
                <a:solidFill>
                  <a:srgbClr val="DCFFF0"/>
                </a:solidFill>
                <a:latin typeface="Arial"/>
              </a:defRPr>
            </a:pPr>
            <a:r>
              <a:t>Thank You! Ready for Live Prototype Demonstration &amp;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1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118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Accenture 2025</vt:lpstr>
      <vt:lpstr>1_Titles</vt:lpstr>
      <vt:lpstr>Titles</vt:lpstr>
      <vt:lpstr>1_Office Theme</vt:lpstr>
      <vt:lpstr>1_Accenture 2025</vt:lpstr>
      <vt:lpstr>PowerPoint Presentation</vt:lpstr>
      <vt:lpstr>Instructions Reference slide– Remove before submission</vt:lpstr>
      <vt:lpstr>Team details</vt:lpstr>
      <vt:lpstr>Describe the problem statement (200 words)</vt:lpstr>
      <vt:lpstr>Proposed solution (200 words)</vt:lpstr>
      <vt:lpstr>Video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Gupta, Sumit</cp:lastModifiedBy>
  <cp:revision>3</cp:revision>
  <dcterms:created xsi:type="dcterms:W3CDTF">2026-07-24T04:09:52Z</dcterms:created>
  <dcterms:modified xsi:type="dcterms:W3CDTF">2026-08-12T11:52:50Z</dcterms:modified>
</cp:coreProperties>
</file>